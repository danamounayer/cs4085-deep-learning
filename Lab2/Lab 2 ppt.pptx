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555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everyone. We are Dana, Tala and Hanan. In this lab we built our first neural network from scratch with NumPy. The picture on the right is our actual dataset: 400 points shaped like a flower, and our job was to teach a network to tell the red points from the blue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data is 400 points shaped like a flower. X holds the two coordinates for each point, Y holds the labels. Logistic regression can only draw one straight line, so it gets 47 percent, worse than guessing. To follow the petals we need a hidden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inputs, four hidden neurons with tanh, one output with sigmoid. tanh is what lets the boundary bend. The sigmoid gives a probability, and above 0.5 we say blue. We start the weights as small random numbers: if they were all zero, every hidden neuron would learn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is one loop. Forward: the data goes left to right and comes out as a probability. Cost: cross-entropy scores how wrong we are; it starts at 0.693, the cost of guessing 50/50. Backward: find which weights caused the error. Update: move each weight a small step against its gradient. Repeat ten thousand times. The backward step is our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Backprop answers: which weights caused the error, and by how much? One: at the output, the error is prediction minus truth. Two: pass it back to the hidden layer through W2, multiplied by the slope of tanh, 1 minus A1 squared. That shares the blame among the hidden neurons. Three: each layer's weight gradient is its error times its input, averaged over all examples; the bias gradient is the average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those three moves in our code. Output layer first: the error, then weight and bias gradients. Then the hidden layer with the same pattern. One over m averages over the 400 examples, and the forward cache gives us A1 and A2 so nothing is recomputed.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4-unit network got 90 percent, versus 47 for logistic regression, and the boundary follows the petals. We also tuned two things. Hidden units: 1 is too simple, 5 was best at about 91 percent, 50 starts to overfit. Learning rate: 0.01 barely learns, 1.2 is smooth, and 10 makes the cost spike. On the noisy moons dataset the network also beat logistic regression, 99 versus 85 percent.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wrap up: the hidden layer is what makes curved boundaries possible; backprop sends the error backwards to compute every gradient; and gradient descent uses those gradients to improve the weights. Thank you, we're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B20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B203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10081"/>
            <a:ext cx="10566400" cy="4135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flower dataset: 400 red and blue points arranged in petals"/>
          <p:cNvPicPr>
            <a:picLocks noChangeAspect="1"/>
          </p:cNvPicPr>
          <p:nvPr/>
        </p:nvPicPr>
        <p:blipFill>
          <a:blip r:embed="rId3">
            <a:alphaModFix amt="95000"/>
          </a:blip>
          <a:srcRect/>
          <a:stretch/>
        </p:blipFill>
        <p:spPr>
          <a:xfrm>
            <a:off x="6477000" y="952500"/>
            <a:ext cx="4953000" cy="495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400810"/>
            <a:ext cx="58864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817370"/>
            <a:ext cx="5755640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5EFE4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Teaching a network to see a flower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12800" y="4420870"/>
            <a:ext cx="536321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9CFD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Planar data classification with one hidden layer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4908550"/>
            <a:ext cx="536321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Dana Mounayer · Tala Hussien · Hanan Idress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5243830"/>
            <a:ext cx="53632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Instructor: Dr. Naila Marir · Effat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0"/>
            <a:ext cx="5232400" cy="103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03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 straight line can't draw petals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311400"/>
            <a:ext cx="523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 points shaped like a flower, each </a:t>
            </a: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blue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X is (2, 400), Y is (1, 400).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083560"/>
            <a:ext cx="2097405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C8344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47%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910205" y="3743960"/>
            <a:ext cx="203539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302760"/>
            <a:ext cx="523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Worse than a coin flip. We need a model that can </a:t>
            </a:r>
            <a:r>
              <a:rPr lang="en-US" sz="1600" b="1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bend</a:t>
            </a: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99200" y="1282700"/>
            <a:ext cx="5080000" cy="4089400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/>
        </p:spPr>
      </p:sp>
      <p:pic>
        <p:nvPicPr>
          <p:cNvPr id="9" name="Image 0" descr="Logistic regression decision boundary: one diagonal line splitting the plane"/>
          <p:cNvPicPr>
            <a:picLocks noChangeAspect="1"/>
          </p:cNvPicPr>
          <p:nvPr/>
        </p:nvPicPr>
        <p:blipFill>
          <a:blip r:embed="rId3"/>
          <a:srcRect l="-19" r="-19"/>
          <a:stretch/>
        </p:blipFill>
        <p:spPr>
          <a:xfrm>
            <a:off x="6299200" y="1282700"/>
            <a:ext cx="5080000" cy="4089400"/>
          </a:xfrm>
          <a:prstGeom prst="roundRect">
            <a:avLst>
              <a:gd name="adj" fmla="val 3106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 · Dana Mounayer, Tala Hussien, Hanan Idress · 2/8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etwork diagram: 2 inputs, 4 tanh hidden units, 1 sigmoid output, fully connect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095500"/>
            <a:ext cx="6350000" cy="304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THE MODEL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03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Our network: 2 → 4 → 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549400" y="30480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x₁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549400" y="3937000"/>
            <a:ext cx="55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3130" y="5270500"/>
            <a:ext cx="18313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5F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Input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features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72130" y="5270500"/>
            <a:ext cx="18313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867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layer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units · tanh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31130" y="5270500"/>
            <a:ext cx="18313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ŷ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unit · sigmoid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6175" y="2162175"/>
            <a:ext cx="3879850" cy="877570"/>
          </a:xfrm>
          <a:prstGeom prst="roundRect">
            <a:avLst>
              <a:gd name="adj" fmla="val 11216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  <p:txBody>
          <a:bodyPr wrap="square" lIns="176277" tIns="125477" rIns="72188" bIns="10007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tanh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the hidden layer lets the boundary curve.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6175" y="3173095"/>
            <a:ext cx="3879850" cy="877570"/>
          </a:xfrm>
          <a:prstGeom prst="roundRect">
            <a:avLst>
              <a:gd name="adj" fmla="val 11216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  <p:txBody>
          <a:bodyPr wrap="square" lIns="176277" tIns="125477" rIns="72188" bIns="10007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sigmoid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output gives a probability: above 0.5 means blue.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96175" y="4184016"/>
            <a:ext cx="3879850" cy="877570"/>
          </a:xfrm>
          <a:prstGeom prst="roundRect">
            <a:avLst>
              <a:gd name="adj" fmla="val 11216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  <p:txBody>
          <a:bodyPr wrap="square" lIns="176277" tIns="125477" rIns="72188" bIns="10007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Weights start </a:t>
            </a: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and random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break symmetry.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 · Dana Mounayer, Tala Hussien, Hanan Idress · 3/8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HOW IT LEARNS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03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One loop, four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1868805"/>
            <a:ext cx="10547350" cy="2713990"/>
          </a:xfrm>
          <a:prstGeom prst="roundRect">
            <a:avLst>
              <a:gd name="adj" fmla="val 5264"/>
            </a:avLst>
          </a:prstGeom>
          <a:noFill/>
          <a:ln w="19050">
            <a:solidFill>
              <a:srgbClr val="5B617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82040" y="2128520"/>
            <a:ext cx="1032875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10,000 TIMES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85215" y="2497455"/>
            <a:ext cx="2045970" cy="1822450"/>
          </a:xfrm>
          <a:prstGeom prst="roundRect">
            <a:avLst>
              <a:gd name="adj" fmla="val 6794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0320" y="27025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0320" y="2966720"/>
            <a:ext cx="16865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Forward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90320" y="3352800"/>
            <a:ext cx="16865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Make a guess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0320" y="3688080"/>
            <a:ext cx="1686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flows left → right; A2 = probability</a:t>
            </a:r>
            <a:endParaRPr lang="en-US" sz="1200" dirty="0"/>
          </a:p>
        </p:txBody>
      </p:sp>
      <p:pic>
        <p:nvPicPr>
          <p:cNvPr id="11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61360" y="3319780"/>
            <a:ext cx="355600" cy="1778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747135" y="2497455"/>
            <a:ext cx="2045970" cy="1822450"/>
          </a:xfrm>
          <a:prstGeom prst="roundRect">
            <a:avLst>
              <a:gd name="adj" fmla="val 6794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52240" y="27025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52240" y="2966720"/>
            <a:ext cx="16865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952240" y="3352800"/>
            <a:ext cx="16865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wrong?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952240" y="3688080"/>
            <a:ext cx="1686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Cross-entropy; starts at 0.693, a coin flip</a:t>
            </a:r>
            <a:endParaRPr lang="en-US" sz="1200" dirty="0"/>
          </a:p>
        </p:txBody>
      </p:sp>
      <p:pic>
        <p:nvPicPr>
          <p:cNvPr id="17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23280" y="3319780"/>
            <a:ext cx="355600" cy="1778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405880" y="2494280"/>
            <a:ext cx="2042160" cy="1828800"/>
          </a:xfrm>
          <a:prstGeom prst="roundRect">
            <a:avLst>
              <a:gd name="adj" fmla="val 6944"/>
            </a:avLst>
          </a:prstGeom>
          <a:solidFill>
            <a:srgbClr val="C8344A"/>
          </a:solidFill>
          <a:ln/>
        </p:spPr>
      </p:sp>
      <p:sp>
        <p:nvSpPr>
          <p:cNvPr id="19" name="Text 15"/>
          <p:cNvSpPr/>
          <p:nvPr/>
        </p:nvSpPr>
        <p:spPr>
          <a:xfrm>
            <a:off x="6609080" y="2697480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BE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OUR FOCUS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609080" y="2961641"/>
            <a:ext cx="16865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Backward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6609080" y="3347720"/>
            <a:ext cx="16865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Who's to blame?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09080" y="3683000"/>
            <a:ext cx="168656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BE3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gradient for every weight</a:t>
            </a:r>
            <a:endParaRPr lang="en-US" sz="1200" dirty="0"/>
          </a:p>
        </p:txBody>
      </p:sp>
      <p:pic>
        <p:nvPicPr>
          <p:cNvPr id="23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75040" y="3319780"/>
            <a:ext cx="355600" cy="1778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9060815" y="2497455"/>
            <a:ext cx="2045970" cy="1822450"/>
          </a:xfrm>
          <a:prstGeom prst="roundRect">
            <a:avLst>
              <a:gd name="adj" fmla="val 6794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265920" y="2702561"/>
            <a:ext cx="16865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265920" y="2966720"/>
            <a:ext cx="16865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9265920" y="3352800"/>
            <a:ext cx="168656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 the weights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9265920" y="3688080"/>
            <a:ext cx="183769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θ = θ − α·dθ, with α = 1.2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 · Dana Mounayer, Tala Hussien, Hanan Idress · 4/8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· BACKPROPAGATION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03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Send the error backwards, output to input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862457"/>
            <a:ext cx="3075464" cy="2461260"/>
          </a:xfrm>
          <a:prstGeom prst="roundRect">
            <a:avLst>
              <a:gd name="adj" fmla="val 5031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092961"/>
            <a:ext cx="269288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· OUTPUT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6480" y="2433321"/>
            <a:ext cx="269288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Measure the error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46480" y="2895600"/>
            <a:ext cx="2614454" cy="501650"/>
          </a:xfrm>
          <a:prstGeom prst="roundRect">
            <a:avLst>
              <a:gd name="adj" fmla="val 15190"/>
            </a:avLst>
          </a:prstGeom>
          <a:solidFill>
            <a:srgbClr val="1B2030"/>
          </a:solidFill>
          <a:ln/>
        </p:spPr>
        <p:txBody>
          <a:bodyPr wrap="square" lIns="130082" tIns="104682" rIns="60792" bIns="79282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dZ2 = A2 − 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6480" y="3524250"/>
            <a:ext cx="269288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 minus truth.</a:t>
            </a:r>
            <a:endParaRPr lang="en-US" sz="1600" dirty="0"/>
          </a:p>
        </p:txBody>
      </p:sp>
      <p:pic>
        <p:nvPicPr>
          <p:cNvPr id="9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47014" y="3004186"/>
            <a:ext cx="355600" cy="177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58189" y="1862457"/>
            <a:ext cx="3075543" cy="2461260"/>
          </a:xfrm>
          <a:prstGeom prst="roundRect">
            <a:avLst>
              <a:gd name="adj" fmla="val 5031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88694" y="2092961"/>
            <a:ext cx="26929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· HIDDEN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88694" y="2433321"/>
            <a:ext cx="269296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 it back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88694" y="2895600"/>
            <a:ext cx="2614533" cy="501650"/>
          </a:xfrm>
          <a:prstGeom prst="roundRect">
            <a:avLst>
              <a:gd name="adj" fmla="val 15190"/>
            </a:avLst>
          </a:prstGeom>
          <a:solidFill>
            <a:srgbClr val="1B2030"/>
          </a:solidFill>
          <a:ln/>
        </p:spPr>
        <p:txBody>
          <a:bodyPr wrap="square" lIns="130082" tIns="104682" rIns="60790" bIns="79282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dZ1 = W2ᵀdZ2·(1−A1²)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88694" y="3524250"/>
            <a:ext cx="269296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 the blame. (1−A1²) is tanh's slope.</a:t>
            </a:r>
            <a:endParaRPr lang="en-US" sz="1600" dirty="0"/>
          </a:p>
        </p:txBody>
      </p:sp>
      <p:pic>
        <p:nvPicPr>
          <p:cNvPr id="15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89307" y="3004186"/>
            <a:ext cx="355600" cy="1778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300482" y="1862457"/>
            <a:ext cx="3075543" cy="2461260"/>
          </a:xfrm>
          <a:prstGeom prst="roundRect">
            <a:avLst>
              <a:gd name="adj" fmla="val 5031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30987" y="2092961"/>
            <a:ext cx="269296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· WEIGHTS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530987" y="2433321"/>
            <a:ext cx="2692969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Get gradients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530987" y="2895600"/>
            <a:ext cx="2614533" cy="501650"/>
          </a:xfrm>
          <a:prstGeom prst="roundRect">
            <a:avLst>
              <a:gd name="adj" fmla="val 15190"/>
            </a:avLst>
          </a:prstGeom>
          <a:solidFill>
            <a:srgbClr val="1B2030"/>
          </a:solidFill>
          <a:ln/>
        </p:spPr>
        <p:txBody>
          <a:bodyPr wrap="square" lIns="130082" tIns="104682" rIns="60790" bIns="79282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dW = dZ·inputᵀ / m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530987" y="3524250"/>
            <a:ext cx="269296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much each weight should change.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 · Dana Mounayer, Tala Hussien, Hanan Idress · 5/8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· BACKPROP IN CODE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03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Six lines do all the work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82"/>
            <a:ext cx="4813808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i="1" dirty="0">
                <a:solidFill>
                  <a:srgbClr val="C8344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“Output first, then hidden.”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2372361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layer: get its error </a:t>
            </a: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dZ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then its gradients </a:t>
            </a: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dW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</a:t>
            </a:r>
            <a:r>
              <a:rPr lang="en-US" sz="1600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119121"/>
            <a:ext cx="4813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Reuses A1 and A2 from the forward cache and handles all 400 examples at once, with no loops.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91200" y="1859282"/>
            <a:ext cx="5588000" cy="2936240"/>
          </a:xfrm>
          <a:prstGeom prst="roundRect">
            <a:avLst>
              <a:gd name="adj" fmla="val 4325"/>
            </a:avLst>
          </a:prstGeom>
          <a:solidFill>
            <a:srgbClr val="1B2030"/>
          </a:solidFill>
          <a:ln/>
        </p:spPr>
      </p:sp>
      <p:sp>
        <p:nvSpPr>
          <p:cNvPr id="8" name="Text 6"/>
          <p:cNvSpPr/>
          <p:nvPr/>
        </p:nvSpPr>
        <p:spPr>
          <a:xfrm>
            <a:off x="6045200" y="2113282"/>
            <a:ext cx="52324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9AA3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45200" y="2428239"/>
            <a:ext cx="5232400" cy="213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07A8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output layer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dZ2 = A2 - Y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dW2 = (1 / m) * np.dot(dZ2, A1.T)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db2 = (1 / m) * np.sum(dZ2, axis=1, keepdims=True)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07A8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hidden layer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dZ1 = np.dot(W2.T, dZ2) * (1 - np.power(A1, 2))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dW1 = (1 / m) * np.dot(dZ1, X.T)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db1 = (1 / m) * np.sum(dZ1, axis=1, keepdims=True)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 · Dana Mounayer, Tala Hussien, Hanan Idress · 6/8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C834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 · RESULTS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03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From 47% to 90%, and what we tuned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82"/>
            <a:ext cx="1319371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C8344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47%</a:t>
            </a:r>
            <a:endParaRPr lang="en-US" sz="48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32171" y="2092961"/>
            <a:ext cx="4064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90971" y="1859282"/>
            <a:ext cx="1519809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F5F9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90%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12800" y="2631439"/>
            <a:ext cx="3556000" cy="2863850"/>
          </a:xfrm>
          <a:prstGeom prst="roundRect">
            <a:avLst>
              <a:gd name="adj" fmla="val 4435"/>
            </a:avLst>
          </a:prstGeom>
          <a:solidFill>
            <a:srgbClr val="FFFFFF"/>
          </a:solidFill>
          <a:ln/>
        </p:spPr>
      </p:sp>
      <p:pic>
        <p:nvPicPr>
          <p:cNvPr id="8" name="Image 1" descr="Neural network boundary following the flower petals"/>
          <p:cNvPicPr>
            <a:picLocks noChangeAspect="1"/>
          </p:cNvPicPr>
          <p:nvPr/>
        </p:nvPicPr>
        <p:blipFill>
          <a:blip r:embed="rId4"/>
          <a:srcRect t="-3" b="-3"/>
          <a:stretch/>
        </p:blipFill>
        <p:spPr>
          <a:xfrm>
            <a:off x="812800" y="2631439"/>
            <a:ext cx="3556000" cy="2863850"/>
          </a:xfrm>
          <a:prstGeom prst="roundRect">
            <a:avLst>
              <a:gd name="adj" fmla="val 4435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4676775" y="1862457"/>
            <a:ext cx="3244850" cy="2559050"/>
          </a:xfrm>
          <a:prstGeom prst="roundRect">
            <a:avLst>
              <a:gd name="adj" fmla="val 4839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881880" y="2067561"/>
            <a:ext cx="29196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units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81880" y="2494282"/>
            <a:ext cx="15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1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70344" y="2387600"/>
            <a:ext cx="646176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5B617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67%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81880" y="2961639"/>
            <a:ext cx="15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1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089203" y="2854961"/>
            <a:ext cx="627317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5F9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91%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881880" y="3429000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1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50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019957" y="3322321"/>
            <a:ext cx="69656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344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90%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881880" y="3789682"/>
            <a:ext cx="291967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Bigger isn't always better: too many units overfit.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1175" y="1862457"/>
            <a:ext cx="3244850" cy="2559050"/>
          </a:xfrm>
          <a:prstGeom prst="roundRect">
            <a:avLst>
              <a:gd name="adj" fmla="val 4839"/>
            </a:avLst>
          </a:prstGeom>
          <a:solidFill>
            <a:srgbClr val="FBF8F2"/>
          </a:solidFill>
          <a:ln w="6350">
            <a:solidFill>
              <a:srgbClr val="E2D9C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336280" y="2067561"/>
            <a:ext cx="29196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336280" y="249428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1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0.01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0535222" y="2387600"/>
            <a:ext cx="63569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5B6170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57%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8336280" y="2961639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1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1.2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0474357" y="2854961"/>
            <a:ext cx="69656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F5F9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90%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8336280" y="3429000"/>
            <a:ext cx="26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17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0134695" y="3322321"/>
            <a:ext cx="1036225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8344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jumpy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8336280" y="3789682"/>
            <a:ext cx="29196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0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small is slow; too big overshoots.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CS4085 Deep Learning · Lab 2 · Dana Mounayer, Tala Hussien, Hanan Idress · 7/8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· KEY TAKEAWAYS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EFE4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Three things to remember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59282"/>
            <a:ext cx="3386614" cy="1524000"/>
          </a:xfrm>
          <a:prstGeom prst="roundRect">
            <a:avLst>
              <a:gd name="adj" fmla="val 8333"/>
            </a:avLst>
          </a:prstGeom>
          <a:solidFill>
            <a:srgbClr val="262C3E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087882"/>
            <a:ext cx="30172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377439"/>
            <a:ext cx="3017296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hidden layer bends the boundary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2941321"/>
            <a:ext cx="301729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tanh took us from 47% to 90%.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2614" y="1859282"/>
            <a:ext cx="3386693" cy="1524000"/>
          </a:xfrm>
          <a:prstGeom prst="roundRect">
            <a:avLst>
              <a:gd name="adj" fmla="val 8333"/>
            </a:avLst>
          </a:prstGeom>
          <a:solidFill>
            <a:srgbClr val="262C3E"/>
          </a:solidFill>
          <a:ln/>
        </p:spPr>
      </p:sp>
      <p:sp>
        <p:nvSpPr>
          <p:cNvPr id="9" name="Text 7"/>
          <p:cNvSpPr/>
          <p:nvPr/>
        </p:nvSpPr>
        <p:spPr>
          <a:xfrm>
            <a:off x="4631214" y="2087882"/>
            <a:ext cx="3017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1214" y="2377439"/>
            <a:ext cx="30173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Backprop finds the blame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1214" y="2697482"/>
            <a:ext cx="301737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error flows right → left to give every weight a gradient.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2507" y="1859282"/>
            <a:ext cx="3386693" cy="1524000"/>
          </a:xfrm>
          <a:prstGeom prst="roundRect">
            <a:avLst>
              <a:gd name="adj" fmla="val 8333"/>
            </a:avLst>
          </a:prstGeom>
          <a:solidFill>
            <a:srgbClr val="262C3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1107" y="2087882"/>
            <a:ext cx="3017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7A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1107" y="2377439"/>
            <a:ext cx="30173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EF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Gradient descent fixes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1107" y="2697482"/>
            <a:ext cx="30173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Step against the gradient, 10,000 times.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5405121"/>
            <a:ext cx="609581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7A8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Thank you! Questions?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665974" y="5730242"/>
            <a:ext cx="37132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Dana Mounayer · Tala Hussien · Hanan Idress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2 — Teaching a Network to See a Flower">
  <a:themeElements>
    <a:clrScheme name="Lab 2 — Teaching a Network to See a Flower">
      <a:dk1>
        <a:srgbClr val="1B2030"/>
      </a:dk1>
      <a:lt1>
        <a:srgbClr val="F5EFE4"/>
      </a:lt1>
      <a:dk2>
        <a:srgbClr val="52545D"/>
      </a:dk2>
      <a:lt2>
        <a:srgbClr val="DFDAD2"/>
      </a:lt2>
      <a:accent1>
        <a:srgbClr val="C8344A"/>
      </a:accent1>
      <a:accent2>
        <a:srgbClr val="F07A8A"/>
      </a:accent2>
      <a:accent3>
        <a:srgbClr val="2F5F9E"/>
      </a:accent3>
      <a:accent4>
        <a:srgbClr val="5B6170"/>
      </a:accent4>
      <a:accent5>
        <a:srgbClr val="C9CFDB"/>
      </a:accent5>
      <a:accent6>
        <a:srgbClr val="9AA3B5"/>
      </a:accent6>
      <a:hlink>
        <a:srgbClr val="0563C1"/>
      </a:hlink>
      <a:folHlink>
        <a:srgbClr val="954F72"/>
      </a:folHlink>
    </a:clrScheme>
    <a:fontScheme name="Lab 2 — Teaching a Network to See a Flower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DM Sans</vt:lpstr>
      <vt:lpstr>Fraunces</vt:lpstr>
      <vt:lpstr>JetBrains Mono</vt:lpstr>
      <vt:lpstr>Lab 2 — Teaching a Network to See a Flower</vt:lpstr>
      <vt:lpstr>Teaching a network to see a flower</vt:lpstr>
      <vt:lpstr>A straight line can't draw petals</vt:lpstr>
      <vt:lpstr>Our network: 2 → 4 → 1</vt:lpstr>
      <vt:lpstr>One loop, four steps</vt:lpstr>
      <vt:lpstr>Send the error backwards, output to input</vt:lpstr>
      <vt:lpstr>Six lines do all the work</vt:lpstr>
      <vt:lpstr>From 47% to 90%, and what we tuned</vt:lpstr>
      <vt:lpstr>Three things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— Teaching a Network to See a Flower</dc:title>
  <dc:subject/>
  <dc:creator>dana mounayer</dc:creator>
  <cp:lastModifiedBy>dana mounayer</cp:lastModifiedBy>
  <cp:revision>1</cp:revision>
  <dcterms:created xsi:type="dcterms:W3CDTF">2026-10-04T09:43:14Z</dcterms:created>
  <dcterms:modified xsi:type="dcterms:W3CDTF">2026-10-04T09:45:26Z</dcterms:modified>
</cp:coreProperties>
</file>